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b26657f3946fd" /><Relationship Type="http://schemas.openxmlformats.org/officeDocument/2006/relationships/extended-properties" Target="/docProps/app.xml" Id="R1f781e2199c04ec7" /><Relationship Type="http://schemas.openxmlformats.org/officeDocument/2006/relationships/officeDocument" Target="/ppt/presentation.xml" Id="Rf4de76485428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01d12951ab45c5"/>
  </p:sldMasterIdLst>
  <p:notesMasterIdLst>
    <p:notesMasterId xmlns:r="http://schemas.openxmlformats.org/officeDocument/2006/relationships" r:id="R097eb8daac6c4c63"/>
  </p:notesMasterIdLst>
  <p:sldIdLst>
    <p:sldId xmlns:r="http://schemas.openxmlformats.org/officeDocument/2006/relationships" id="256" r:id="Rae1250a94c3a439e"/>
    <p:sldId xmlns:r="http://schemas.openxmlformats.org/officeDocument/2006/relationships" id="257" r:id="R3b48f5341cea4a6a"/>
    <p:sldId xmlns:r="http://schemas.openxmlformats.org/officeDocument/2006/relationships" id="258" r:id="R1e64070506e4444e"/>
    <p:sldId xmlns:r="http://schemas.openxmlformats.org/officeDocument/2006/relationships" id="259" r:id="Ref3c329b39924dc1"/>
    <p:sldId xmlns:r="http://schemas.openxmlformats.org/officeDocument/2006/relationships" id="260" r:id="R0e0fa2b476434fa4"/>
    <p:sldId xmlns:r="http://schemas.openxmlformats.org/officeDocument/2006/relationships" id="261" r:id="Raccf44ad083847dd"/>
    <p:sldId xmlns:r="http://schemas.openxmlformats.org/officeDocument/2006/relationships" id="262" r:id="R22b3f29627ec47e8"/>
    <p:sldId xmlns:r="http://schemas.openxmlformats.org/officeDocument/2006/relationships" id="263" r:id="Ra0da679237bb428c"/>
    <p:sldId xmlns:r="http://schemas.openxmlformats.org/officeDocument/2006/relationships" id="264" r:id="Rae0cb0d901fd4d36"/>
    <p:sldId xmlns:r="http://schemas.openxmlformats.org/officeDocument/2006/relationships" id="265" r:id="Rcb202c40e1454a95"/>
    <p:sldId xmlns:r="http://schemas.openxmlformats.org/officeDocument/2006/relationships" id="266" r:id="R5ddf035e5faa44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b984bf6194fb6" /><Relationship Type="http://schemas.openxmlformats.org/officeDocument/2006/relationships/slideMaster" Target="/ppt/slideMasters/slideMaster1.xml" Id="Rc601d12951ab45c5" /><Relationship Type="http://schemas.openxmlformats.org/officeDocument/2006/relationships/notesMaster" Target="/ppt/notesMasters/notesMaster1.xml" Id="R097eb8daac6c4c63" /><Relationship Type="http://schemas.openxmlformats.org/officeDocument/2006/relationships/presProps" Target="/ppt/presProps.xml" Id="Re1cd3dfcecc94d5f" /><Relationship Type="http://schemas.openxmlformats.org/officeDocument/2006/relationships/tableStyles" Target="/ppt/tableStyles.xml" Id="R602084e75f1a4abc" /><Relationship Type="http://schemas.openxmlformats.org/officeDocument/2006/relationships/slide" Target="/ppt/slides/slide1.xml" Id="Rae1250a94c3a439e" /><Relationship Type="http://schemas.openxmlformats.org/officeDocument/2006/relationships/slide" Target="/ppt/slides/slide2.xml" Id="R3b48f5341cea4a6a" /><Relationship Type="http://schemas.openxmlformats.org/officeDocument/2006/relationships/slide" Target="/ppt/slides/slide3.xml" Id="R1e64070506e4444e" /><Relationship Type="http://schemas.openxmlformats.org/officeDocument/2006/relationships/slide" Target="/ppt/slides/slide4.xml" Id="Ref3c329b39924dc1" /><Relationship Type="http://schemas.openxmlformats.org/officeDocument/2006/relationships/slide" Target="/ppt/slides/slide5.xml" Id="R0e0fa2b476434fa4" /><Relationship Type="http://schemas.openxmlformats.org/officeDocument/2006/relationships/slide" Target="/ppt/slides/slide6.xml" Id="Raccf44ad083847dd" /><Relationship Type="http://schemas.openxmlformats.org/officeDocument/2006/relationships/slide" Target="/ppt/slides/slide7.xml" Id="R22b3f29627ec47e8" /><Relationship Type="http://schemas.openxmlformats.org/officeDocument/2006/relationships/slide" Target="/ppt/slides/slide8.xml" Id="Ra0da679237bb428c" /><Relationship Type="http://schemas.openxmlformats.org/officeDocument/2006/relationships/slide" Target="/ppt/slides/slide9.xml" Id="Rae0cb0d901fd4d36" /><Relationship Type="http://schemas.openxmlformats.org/officeDocument/2006/relationships/slide" Target="/ppt/slides/slide10.xml" Id="Rcb202c40e1454a95" /><Relationship Type="http://schemas.openxmlformats.org/officeDocument/2006/relationships/slide" Target="/ppt/slides/slide11.xml" Id="R5ddf035e5faa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19a46d62845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41e13fd5c4d3c" /><Relationship Type="http://schemas.openxmlformats.org/officeDocument/2006/relationships/notesMaster" Target="/ppt/notesMasters/notesMaster1.xml" Id="R1c3ee5644551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014c0d9317494f" /><Relationship Type="http://schemas.openxmlformats.org/officeDocument/2006/relationships/notesMaster" Target="/ppt/notesMasters/notesMaster1.xml" Id="R3fb64b173e244f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32d365f4049ed" /><Relationship Type="http://schemas.openxmlformats.org/officeDocument/2006/relationships/notesMaster" Target="/ppt/notesMasters/notesMaster1.xml" Id="Rd067467423b94c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0ed0b54a994d9f" /><Relationship Type="http://schemas.openxmlformats.org/officeDocument/2006/relationships/notesMaster" Target="/ppt/notesMasters/notesMaster1.xml" Id="R90e68615531a43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2707a7cca94541" /><Relationship Type="http://schemas.openxmlformats.org/officeDocument/2006/relationships/notesMaster" Target="/ppt/notesMasters/notesMaster1.xml" Id="Rc70f5869efab4b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4e126a6fe4e43" /><Relationship Type="http://schemas.openxmlformats.org/officeDocument/2006/relationships/notesMaster" Target="/ppt/notesMasters/notesMaster1.xml" Id="R5e8de23035604c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41fa1d55eb4a52" /><Relationship Type="http://schemas.openxmlformats.org/officeDocument/2006/relationships/notesMaster" Target="/ppt/notesMasters/notesMaster1.xml" Id="R5a9f7feb22a64a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4f22c21534271" /><Relationship Type="http://schemas.openxmlformats.org/officeDocument/2006/relationships/notesMaster" Target="/ppt/notesMasters/notesMaster1.xml" Id="Rf33b5106f3a941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e6b94207264608" /><Relationship Type="http://schemas.openxmlformats.org/officeDocument/2006/relationships/notesMaster" Target="/ppt/notesMasters/notesMaster1.xml" Id="Rce810e4f01cf40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60810f67f341fd" /><Relationship Type="http://schemas.openxmlformats.org/officeDocument/2006/relationships/notesMaster" Target="/ppt/notesMasters/notesMaster1.xml" Id="R4dc5f382708249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4f0955f0084cbf" /><Relationship Type="http://schemas.openxmlformats.org/officeDocument/2006/relationships/notesMaster" Target="/ppt/notesMasters/notesMaster1.xml" Id="R0cf33ddb10eb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screenshot: repository asset docs/screenshots/dashboard_page.png. All product statements are based on the repository README and deployed Testnet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 is a project positioning statement; no external market-statistic claim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Flow and feature statements are derived from repository README and frontend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screenshot: repository asset docs/screenshots/desktop_landing.png. Onboarding flow: new frontend page /app/onboarding in this Level 5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is based on repository README architecture section and frontend/src/lib/ContractInteraction.ts.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Feedback/fix details: repository README Feedback &amp; Fixes table. Related commit: 60ea9161abdcf3719f97b4c9d26f5f2785eb693e.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Market opportunity is qualitative positioning; the deck intentionally makes no external market-size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Growth protocol: docs/LEVEL_5.md and docs/evidence/wallet-interactions.csv in this update. 50-wallet count is a target, not an achieved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Commit count is from local repository history at deck creation. Test counts are documented in project history; final test verification should accompany the submission. 50 is a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is a forward-looking project plan;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app URL and screenshot source: repository README and docs/screenshots/liquidate_page.png. Demo workflow: docs/DEMO_SCRIPT.md.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cfc104b124b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cbd9a050bf42d1" /><Relationship Type="http://schemas.openxmlformats.org/officeDocument/2006/relationships/slideLayout" Target="/ppt/slideLayouts/slideLayout1.xml" Id="R2d76127b8e7c45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6127b8e7c45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5bb17c6294dd8" /><Relationship Type="http://schemas.openxmlformats.org/officeDocument/2006/relationships/image" Target="/ppt/media/image.png" Id="R837e07538953430f" /><Relationship Type="http://schemas.openxmlformats.org/officeDocument/2006/relationships/notesSlide" Target="/ppt/notesSlides/notesSlide1.xml" Id="R73355df192f94a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f07c3ab6140ff" /><Relationship Type="http://schemas.openxmlformats.org/officeDocument/2006/relationships/notesSlide" Target="/ppt/notesSlides/notesSlide2.xml" Id="R66307565dcc247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08aba08244080" /><Relationship Type="http://schemas.openxmlformats.org/officeDocument/2006/relationships/notesSlide" Target="/ppt/notesSlides/notesSlide3.xml" Id="R94d9f20402db4a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10ed43e24758" /><Relationship Type="http://schemas.openxmlformats.org/officeDocument/2006/relationships/image" Target="/ppt/media/image2.png" Id="R85f55aa8186f4102" /><Relationship Type="http://schemas.openxmlformats.org/officeDocument/2006/relationships/notesSlide" Target="/ppt/notesSlides/notesSlide4.xml" Id="R315c79a69c15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a42c533ed4faf" /><Relationship Type="http://schemas.openxmlformats.org/officeDocument/2006/relationships/notesSlide" Target="/ppt/notesSlides/notesSlide5.xml" Id="R5681f1d58a6b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9560ad7b54ee2" /><Relationship Type="http://schemas.openxmlformats.org/officeDocument/2006/relationships/notesSlide" Target="/ppt/notesSlides/notesSlide6.xml" Id="R88bc8f2f0434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02bac7d14fe2" /><Relationship Type="http://schemas.openxmlformats.org/officeDocument/2006/relationships/notesSlide" Target="/ppt/notesSlides/notesSlide7.xml" Id="R3c032be0408842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9181257824d54" /><Relationship Type="http://schemas.openxmlformats.org/officeDocument/2006/relationships/notesSlide" Target="/ppt/notesSlides/notesSlide8.xml" Id="Rc033e9ec016a42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803c70909458b" /><Relationship Type="http://schemas.openxmlformats.org/officeDocument/2006/relationships/notesSlide" Target="/ppt/notesSlides/notesSlide9.xml" Id="R938386dc6a4949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6031beeed432a" /><Relationship Type="http://schemas.openxmlformats.org/officeDocument/2006/relationships/notesSlide" Target="/ppt/notesSlides/notesSlide10.xml" Id="R585e14d1449949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4d21fec774c9a" /><Relationship Type="http://schemas.openxmlformats.org/officeDocument/2006/relationships/image" Target="/ppt/media/image3.png" Id="R82b2547a8be444fa" /><Relationship Type="http://schemas.openxmlformats.org/officeDocument/2006/relationships/notesSlide" Target="/ppt/notesSlides/notesSlide11.xml" Id="Rb16cd3f526eb40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7DE52-CDD1-4DB0-9506-09B6635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9"/>
          </a:solidFill>
          <a:ln xmlns:a="http://schemas.openxmlformats.org/drawingml/2006/main" w="9525">
            <a:solidFill>
              <a:srgbClr val="DDF3E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6A2DE-C0DD-4F83-B172-4C66173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STELLAR TESTNET · LEVEL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0E8F7-3533-42D8-A022-18CB7CF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Borrow against</a:t>
            </a:r>
          </a:p>
          <a:p xmlns:a="http://schemas.openxmlformats.org/drawingml/2006/main">
            <a:pPr>
              <a:defRPr sz="46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your XLM.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307EC-0E8F-4C1E-8249-A654201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6B6B6B"/>
                </a:solidFill>
                <a:latin typeface="Aptos"/>
                <a:ea typeface="Aptos"/>
                <a:cs typeface="Aptos"/>
              </a:rPr>
              <a:t>A non-custodial Soroban lending flow with clearer onboarding, position safety, and verifiable Testnet activity.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66529-ED8F-43A4-8B4A-D52CE385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4381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453DD-78FA-45B3-8A9F-D3A04AE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THE LEVEL 5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E9887-EDD7-4C2B-8FD5-61DA834E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Product iteration  ·  user growth  ·  proof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e07538953430f"/>
          <a:srcRect xmlns:a="http://schemas.openxmlformats.org/drawingml/2006/main" l="24056" t="0" r="24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495300"/>
            <a:ext cx="5181600" cy="55626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86E5A-9D44-45FB-AD93-4FFA4E1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37C4B-3FF8-4CC4-BA44-AFFF601A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2936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CFEAF-5996-4403-9C76-3F11B942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24AB1-0735-4158-82DD-6DDC23F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Liquidity should not require leaving XLM behind.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E440B-57B9-431E-BF03-6E6DED85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The first lending interaction is hard to trust when risk, steps, and proof are fragmented.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EA3FA-F8F1-43BB-9619-C40BC27B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3718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D6517-85C7-4847-9099-9FD12E4E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2CD3E-770B-4D54-BD8A-A5A4471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Opaque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490BB-4275-424E-A2A7-F39B9AF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B6B6B"/>
                </a:solidFill>
                <a:latin typeface="Aptos"/>
                <a:ea typeface="Aptos"/>
                <a:cs typeface="Aptos"/>
              </a:rPr>
              <a:t>Users need to see the collateral rule and liquidation threshold before they 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76D31-2331-41ED-A3DE-B8CD7082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33718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BCB62-0199-4D99-AB9D-6983E7C9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27630-E789-4EC5-B9D0-8917A89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Friction at first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F832B-9E39-42AB-B787-A9E11A13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B6B6B"/>
                </a:solidFill>
                <a:latin typeface="Aptos"/>
                <a:ea typeface="Aptos"/>
                <a:cs typeface="Aptos"/>
              </a:rPr>
              <a:t>Wallet setup, Testnet funding, and the first action often happen in separate 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23280-2C5A-4D1E-82B1-BDD1B86D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33718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23866-165D-4426-B407-2B956D2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C5028-BD67-4DC5-8C6B-2901F8B8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Weak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294E-BC62-4CB8-AE89-FD88BE2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B6B6B"/>
                </a:solidFill>
                <a:latin typeface="Aptos"/>
                <a:ea typeface="Aptos"/>
                <a:cs typeface="Aptos"/>
              </a:rPr>
              <a:t>A working dApp needs confirmed, public Testnet activity—not unverified claims.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76DF2-5F2A-482C-B87D-E6DA8D71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080A5-0199-4253-AFFC-CAA8168C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0198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FF321-DCDF-4351-AFBC-8D278DF5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A7984-0421-47BA-AB08-64C4E8F1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One transparent loop: deposit, borrow, manage, 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491A9-CBDC-4632-ABB3-F4CD9A4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makes native XLM collateral, dTOKEN borrowing, and position safety visible in one Testnet interface.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71A07-AE98-439A-A2A1-9676C038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4384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0B351-A93C-41F0-AA24-FDFA57FC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8E94-55C7-496B-9F2E-C789B5C7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Deposit XLM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45CB3-1353-40A7-AF80-BBBBEFD0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56672-A452-4A7E-A4AD-4D7A824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62300"/>
            <a:ext cx="24384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D590D-B08F-4FA4-A8F8-7EC4470F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56EA2-F465-4438-AAC8-04AA05E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14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Borrow dTOKEN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55D65-79BE-4B14-BE03-4477DCEA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6E570-3137-40D9-84C2-89BB35F4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4384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D5FE7-60B1-49FD-B8A0-2C57F2C2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A6F12-8DDC-41E3-8C7B-ECF53C19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Monitor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BCD3E-238D-4AC4-8E15-D668F881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2E1F0-2A92-4EB4-9BFC-D7444E80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62300"/>
            <a:ext cx="24384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222BB-5143-4190-861B-DBEFE51E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52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84780-8A9B-47E7-B066-70A16914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Repay / withdraw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C7C70-29CA-41AB-8B93-F54095E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0A679-21A8-4E8F-A190-FC94C0D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76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Designed for a Testnet-first experience: transparent parameters, public wallet proof, and no custody of user assets.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ADC7E-C56A-4436-B424-7571FFF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BC226-8883-4693-AEDA-91210665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1417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F820CF-1F58-4DC4-9245-5B3BFFEF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PRODUCT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2068D-F9AF-4EDB-85A2-AB6F6D31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The first five minutes now have a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F526-7357-45D3-B884-0D882CEA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The new Start on Testnet page turns wallet setup and proof collection into a clear checklist.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55aa8186f4102"/>
          <a:srcRect xmlns:a="http://schemas.openxmlformats.org/drawingml/2006/main" l="0" t="1946" r="0" b="1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724150"/>
            <a:ext cx="5657850" cy="3028950"/>
          </a:xfrm>
          <a:prstGeom xmlns:a="http://schemas.openxmlformats.org/drawingml/2006/main" prst="roundRect">
            <a:avLst>
              <a:gd name="adj" fmla="val 503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AD970-5AEC-4DF0-A59B-49577C7A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BD583-B66D-48C3-AFD1-0835722A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38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CB44B-7084-4C19-B0CC-763004AB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24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Connect Freighter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56903-C723-4FFE-8CB3-0647B8DB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Use Stellar Testnet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A4FEA-CE08-4662-832E-5323F355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4F15E-9F62-4B8E-9BE7-BAF2A98E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38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919D2-D62C-4BA7-ACEF-AB3F5C85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Fund with Friendbot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96C9B-7E94-4186-BB75-696282F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Get Testnet XLM, not mainnet funds.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6E550-0ABB-4FE8-9BAD-35ECE41C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F3417-8A59-473C-83D3-654EDCE3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38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7CC8A-D9C7-4A38-BA08-82265E32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Complete one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74CE5-1495-4BF2-9534-EBFD561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Deposit, borrow, repay, withdraw, or liquidate.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2E3BE-FA77-4AA4-BD4A-442F3AA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43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1414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11A32-9443-4705-8A4D-88B06460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00650"/>
            <a:ext cx="38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B2E5C-ACB8-4005-8D1B-FAFB6F32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24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Retain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BE5AF-439F-45E8-B436-96D58D6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911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Save only the public address and transaction hash.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7C781-623B-4741-AF27-18AE577B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CA2FB-B311-4645-9F90-C119A5A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9406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5C2D5-2BB5-4B14-9B26-98D84A7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56244-5462-4FD6-B699-93B31002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 thin wallet interface over Soroban contracts.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5E8FF-1A8F-4086-B88B-A0460B1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The app keeps signing in Freighter while React reads and invokes contracts through Stellar RPC.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89160-94EE-4F02-BEC4-F57B73F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4003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E1C32-9A12-4EFC-B3A1-BAA0CF3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Freighter wallet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A7D5D-6C54-4C64-983E-1E64CA9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Public address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Signs Testnet 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FAB59-927B-46AA-AFA9-8D16F9B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24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4F2E5-026F-457E-9B27-D001A66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24003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44A61-071A-4ACD-ADBB-31E667F7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480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D2668-0008-468D-864E-FC5DE155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57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Dashboard and guided flows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Position previews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147D9-918F-455C-BB53-63AB57F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24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FC636-ADAD-413C-9260-D769D635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24003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DA703-3E0C-4EFA-B17B-EBBFAD39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Stellar 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04CBC-4390-4660-AB7E-F23329F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Simulation and transaction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confirmation polling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FF3E1-74E4-4CEB-A39E-BC68266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24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7C550-5000-439C-A512-7F20FA73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62300"/>
            <a:ext cx="24003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A2FB-C0ED-4566-9CD6-AFEDFEE5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Soroban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B85A8-EBCB-4E06-B6B1-B9C663CD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57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Pool · debt token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Flash liquidation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87BFD-0880-43E0-9770-782ED104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Native XLM collateral  ·  USD-aware health factor  ·  150% collateral ratio  ·  120% liquidation threshold  ·  5% liquidation bonus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7FFC7-13CF-4AFC-BB4B-B0B8CA79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B966D-B8BC-4C97-B8E6-96B5186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7152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57937-D5D4-4DFE-8CC4-7359BF0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FEEDBACK → FIXES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3D8A0-FE56-463F-ABDE-A29A29A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We turned specific usability issues into product changes.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559E1-B1B8-4EDC-8477-8E04FAEF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The objective is less guesswork: clearer safety states, a richer desktop layout, and stable wallet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5D3A-76AE-44D3-8B71-48C9A747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4102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05530-8DEF-458A-BF83-7EF67D80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Health factor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BF78E-DA96-4F66-9331-55C6F0A4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Cap the visual display and make very-safe positions readable.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0ABAE-7202-4696-A28A-ED5765FC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102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A4107-D0D1-4A31-B68B-92A3D2F6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Landing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3C1F2-9A80-4CF8-8CBE-4C63FB4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Add a position preview, protocol parameters, and a stronger first CTA.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CFCBB-230B-4977-BD86-163F575A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54102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98432-71C9-48D5-AEE7-6CC2F700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Desktop layout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6BD78-E4AB-4947-910B-45C78C3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Replace the narrow mobile-style frame with purposeful two-column pages.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4D5C2-DF14-438C-BAD5-5566C79B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00550"/>
            <a:ext cx="54102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8063B-63E3-4B6B-BF2B-2632B0CA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Wallet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D0F54-CA0F-4DD7-84CE-FAAD732B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Prevent stale requests from an older connected wallet overwriting dashboard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E3D4F-7664-4C55-8E2A-A6EEE87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994B6-D190-4841-B740-6250376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8376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49F8F-DCD3-4E60-A7FF-F2091F2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2">
                <a:solidFill>
                  <a:srgbClr val="A7D9C3"/>
                </a:solidFill>
                <a:latin typeface="Aptos"/>
                <a:ea typeface="Aptos"/>
                <a:cs typeface="Aptos"/>
              </a:defRPr>
            </a:pPr>
            <a:r>
              <a:rPr sz="825" b="1" spc="2">
                <a:solidFill>
                  <a:srgbClr val="A7D9C3"/>
                </a:solidFill>
                <a:latin typeface="Aptos"/>
                <a:ea typeface="Aptos"/>
                <a:cs typeface="Aptos"/>
              </a:rPr>
              <a:t>MARKET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0A0A7-FCE7-4C59-821B-48FE3EA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where the learning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loop is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BAF4D-E318-4CD8-807E-8029418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C8C3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C8C3"/>
                </a:solidFill>
                <a:latin typeface="Aptos"/>
                <a:ea typeface="Aptos"/>
                <a:cs typeface="Aptos"/>
              </a:rPr>
              <a:t>The immediate opportunity is a focused Testnet cohort: users who can validate wallet onboarding, lending safety cues, and the complete transaction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3B0F6-1799-4B8C-A97F-9BF507E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28700"/>
            <a:ext cx="4095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2322"/>
          </a:solidFill>
          <a:ln xmlns:a="http://schemas.openxmlformats.org/drawingml/2006/main" w="9525">
            <a:solidFill>
              <a:srgbClr val="4141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9D9B2-F87D-4AED-9010-CB91CFF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5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7CB29-5AE4-4986-A697-0A74B9B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002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8C8C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C8C8C3"/>
                </a:solidFill>
                <a:latin typeface="Aptos"/>
                <a:ea typeface="Aptos"/>
                <a:cs typeface="Aptos"/>
              </a:rPr>
              <a:t>Open-source Soroban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0DF34-7942-4FF3-ACA6-C58205B3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95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2322"/>
          </a:solidFill>
          <a:ln xmlns:a="http://schemas.openxmlformats.org/drawingml/2006/main" w="9525">
            <a:solidFill>
              <a:srgbClr val="414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6024F-E7A6-434D-AD20-D41BF8D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3A1B8-CC12-46DB-9CCB-A20D88A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8C8C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C8C8C3"/>
                </a:solidFill>
                <a:latin typeface="Aptos"/>
                <a:ea typeface="Aptos"/>
                <a:cs typeface="Aptos"/>
              </a:rPr>
              <a:t>Publicly verifiable Testnet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A8E96-06FD-44C5-A905-6D08A58F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4095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32322"/>
          </a:solidFill>
          <a:ln xmlns:a="http://schemas.openxmlformats.org/drawingml/2006/main" w="9525">
            <a:solidFill>
              <a:srgbClr val="414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EBBBD-5B6E-4C12-B03E-F199354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Ecosystem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0F42E-CEED-4033-B32E-9DBA1085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33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8C8C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C8C8C3"/>
                </a:solidFill>
                <a:latin typeface="Aptos"/>
                <a:ea typeface="Aptos"/>
                <a:cs typeface="Aptos"/>
              </a:rPr>
              <a:t>A demoable native-XLM lending use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B91E1-991A-4660-AA55-193300A9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D9C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D9C3"/>
                </a:solidFill>
                <a:latin typeface="Aptos"/>
                <a:ea typeface="Aptos"/>
                <a:cs typeface="Aptos"/>
              </a:rPr>
              <a:t>No invented TAM. Growth claims come only after verified cohort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B4150-BDBC-4D4C-BBC6-6A5130E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770AC-F500-4E97-891D-81DD83C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0588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E333D3-130D-408B-AC6B-B6BAF36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5D453-959F-4320-A335-DA03D4F6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 measured path to 50 real wallet interactions.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43900-925F-49D7-AD00-8D504DF6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Every row must be a separately confirmed public Testnet transaction—not a generated address or an unverified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AA337-38A3-45D6-A540-B93D9649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962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CEA73-4545-4702-BD9C-8D46360F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0E5BD-20C4-43FE-9079-F7CD8921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Invite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01E07-6162-4074-B96D-0DA553C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Share the Testnet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75310-E72C-4F8A-A8B5-FF794DF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F1262-E9A1-4D63-8822-599D901E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962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E3883-F7E4-4886-9022-F0525BF5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14ECC-B2FD-4706-A301-D16ABC81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67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Onboard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2E94D-4C4F-4594-8AAE-1AFB98D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Fund wallet and 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3C045-9450-4213-952C-CD46599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48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DA4C7-D1D0-4062-8128-617DB463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962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9FB35-20A7-41F9-A0CF-4728482F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43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1E092-32A2-47D7-89AF-1B70B25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67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Interact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990FE-58B0-44BE-BB82-9DC6593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One meaningful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AFB3B-61E2-4CDB-9347-316712E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48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D229A-13BB-4298-818B-44DB8C20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962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1D2F3-67F7-4696-BCD9-735E46BE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2EFBF-CE35-4DEC-8846-C725F527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67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81CB7-3F93-4BA4-A282-E5DF8828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10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Check Stellar Expert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064AA-CDE1-478C-8338-A6BE1C6D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F0B0B-E7C5-4856-921C-7A46D7C6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9621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240DB-462D-4E0A-B812-AB24CD17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6F5D31-1FA9-4888-8297-05394FDB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67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Iterate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B177FB-F618-4F53-B185-70382AE4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10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Use rating and comments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B068B-EF0E-4347-B10E-48C58A45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DF8F0"/>
          </a:solidFill>
          <a:ln xmlns:a="http://schemas.openxmlformats.org/drawingml/2006/main" w="9525">
            <a:solidFill>
              <a:srgbClr val="F0E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406E3-0536-4BE9-8565-4C672884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Operating rule: schedule each real interaction 2–3 minutes apart; retain only public wallet address + confirmed hash + optional feedback.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12C24-0FFD-4DD5-B2FB-650795E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CB4E66-2F2A-42C6-9031-9061242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3945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4ABDE-4138-45BF-9CAE-912AA8C3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READINESS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F0811-EDA0-4709-ACC7-4FD5225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The product is ready to be tested; the real cohort is still pending.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0A9A2-EA6F-4A67-B417-149A95C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These are engineering and operational signals, not user-growth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650D-C19A-4738-878E-792CD54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4384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58A6E-5C92-481D-820E-01C4B160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40+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5CA45-2C46-41AC-92F1-59D7C58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meaningful commits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in current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70400-0455-4EEA-BA02-85BD747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24384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4A8A6-5293-4AA9-BDA2-C78AFCB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5DE34-1687-4BE3-89E9-DCD9BEF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33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contract tests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previously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0D7C5-78A8-43BA-9CE6-AF3A4596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24384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B5CD7-F1E2-4C66-B51B-96E51D6B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FE56B-C814-4AB7-95D0-9E05FF81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433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frontend tests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previously passing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BFE17-3CEB-4ABC-A7BD-F576B0C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4384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DF8F0"/>
          </a:solidFill>
          <a:ln xmlns:a="http://schemas.openxmlformats.org/drawingml/2006/main" w="9525">
            <a:solidFill>
              <a:srgbClr val="F0E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18220-60A7-4B10-B889-4C90A3C0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9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9952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C9952D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75505-48C5-4273-811C-5D9E4D8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433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real wallets</a:t>
            </a:r>
          </a:p>
          <a:p xmlns:a="http://schemas.openxmlformats.org/drawingml/2006/main">
            <a:pPr>
              <a:defRPr sz="1050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6B6B6B"/>
                </a:solidFill>
                <a:latin typeface="Aptos"/>
                <a:ea typeface="Aptos"/>
                <a:cs typeface="Aptos"/>
              </a:rPr>
              <a:t>cohort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1DB8F-B401-419B-97BD-906EA5F2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40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4040"/>
                </a:solidFill>
                <a:latin typeface="Aptos"/>
                <a:ea typeface="Aptos"/>
                <a:cs typeface="Aptos"/>
              </a:rPr>
              <a:t>Internal Testnet smoke tests and prior test results are not substituted for independent user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6E063-00EF-4D87-AEE7-16C72770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DAA2F-685D-4C2F-A2B6-7598C07E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22504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2B218-1DA5-468E-B372-343BEF6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 spc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60985-31E5-47D8-BB40-4C015AC1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Validate first. Then expand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4BA77-0794-4D66-AF7A-01A031A4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B6B6B"/>
                </a:solidFill>
                <a:latin typeface="Aptos"/>
                <a:ea typeface="Aptos"/>
                <a:cs typeface="Aptos"/>
              </a:rPr>
              <a:t>The next phase is deliberately tied to real observed friction rather than a speculative feature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EE18E-680A-4F38-9FCA-F306F98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419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77D79-F69A-4808-8A40-8B7F49B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47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9"/>
          </a:solidFill>
          <a:ln xmlns:a="http://schemas.openxmlformats.org/drawingml/2006/main" w="9525">
            <a:solidFill>
              <a:srgbClr val="DDF3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DCA68-66E6-4A15-B662-731F44B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6197D-4950-468C-8397-08C0F88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Guided Testnet onboarding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C8A92-79EB-41F0-8743-AD139A3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Clear first action, safety, and proof instructions.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76681-84A6-466A-8C69-059CB305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05150"/>
            <a:ext cx="2419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702FB-A976-4F0B-9FFE-BD9ACCA7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647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452FD-9316-4DCB-A348-EBEE634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7729B-0D10-4BCD-858E-41CF446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29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50-user verified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FAF83-B96D-44A9-9C08-89E6D2E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Timed Testnet interactions plus ratings and feedback.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C2E19-CF5E-4C69-ABE8-356D7EDC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419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D9728-39B8-4723-ADDF-E7EEBDA5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647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3B2F7-E08F-4539-B4B3-F6538B50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672B8-204B-40AE-AA59-1984065E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Prioritised product iteration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36550-86D3-4AF3-855A-C9BD784D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Fix the highest-impact onboarding and position-management friction.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F7159-57AF-43FA-B37A-1D85AE2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2419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1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65C91-C2B8-4EBB-857C-9C0FB1F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647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A5C1E-F179-4E1C-A59F-A9D0B97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1803D-ED1B-4A04-A759-E59491A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29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Ecosystem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235FE-D8CA-463C-9803-0245FB0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57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6B6B6B"/>
                </a:solidFill>
                <a:latin typeface="Aptos"/>
                <a:ea typeface="Aptos"/>
                <a:cs typeface="Aptos"/>
              </a:rPr>
              <a:t>Publish demo, analytics evidence, and a refined public narrative.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D39D0-74C0-4596-BA28-761EC7CB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EF4AC-F2C6-4ADD-A9E5-1AD50C3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0530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A644E-738B-4DE6-BB54-4F544DC0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828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3C33"/>
          </a:solidFill>
          <a:ln xmlns:a="http://schemas.openxmlformats.org/drawingml/2006/main" w="9525">
            <a:solidFill>
              <a:srgbClr val="273C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A059-B28C-4FB3-B54C-1F4C035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7D9C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D9C3"/>
                </a:solidFill>
                <a:latin typeface="Aptos"/>
                <a:ea typeface="Aptos"/>
                <a:cs typeface="Aptos"/>
              </a:rPr>
              <a:t>LIVE ON STELLAR TESTNET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33E71-545B-431C-8F83-6519C042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 for the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real interaction.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50518-FF0F-4302-8B5A-08153B83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C8C3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C8C3"/>
                </a:solidFill>
                <a:latin typeface="Aptos"/>
                <a:ea typeface="Aptos"/>
                <a:cs typeface="Aptos"/>
              </a:rPr>
              <a:t>Open-source lending flow · guided Testnet onboarding · public transaction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3F6D-D2F3-42E0-BFC4-6B48BDD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48958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32322"/>
          </a:solidFill>
          <a:ln xmlns:a="http://schemas.openxmlformats.org/drawingml/2006/main" w="9525">
            <a:solidFill>
              <a:srgbClr val="414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AC82D-A36A-42E0-92F4-5902269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D9C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D9C3"/>
                </a:solidFill>
                <a:latin typeface="Aptos"/>
                <a:ea typeface="Aptos"/>
                <a:cs typeface="Aptos"/>
              </a:rPr>
              <a:t>LIVE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924A3-6DCD-412A-A136-1EB636D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stellar-lending-app.vercel.app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2547a8be444fa"/>
          <a:srcRect xmlns:a="http://schemas.openxmlformats.org/drawingml/2006/main" l="26290" t="0" r="262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514350"/>
            <a:ext cx="4362450" cy="5124450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8AC66-5E84-4468-8A43-E3A1B593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238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STELLAR LENDING  ·  LEVEL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27D7F-35CC-4695-A12C-567D202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6B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6B6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8595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2026-08-21T06:41:32.5340000Z</dcterms:created>
  <dcterms:modified xsi:type="dcterms:W3CDTF">2026-08-21T06:41:32.5340000Z</dcterms:modified>
</coreProperties>
</file>